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Trebuchet MS" panose="020B0603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G9BJTiBKJZ3bs9JurxLDYgqTX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6951D3-7AB4-B64D-6955-44BEA5889AC1}" v="120" dt="2025-11-11T05:39:50.082"/>
    <p1510:client id="{A54F6BA5-E7DC-145B-22D1-29994E50EE04}" v="5" dt="2025-11-11T05:22:05.956"/>
    <p1510:client id="{FE86BE37-E924-4DAC-8B5E-DEF0AFE13D40}" v="377" dt="2025-11-11T05:16:09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8E5C5500E8615E1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Estimated job growth (2015 - 2034)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186C24"/>
            </a:solidFill>
            <a:ln>
              <a:noFill/>
            </a:ln>
            <a:effectLst/>
          </c:spPr>
          <c:invertIfNegative val="0"/>
          <c:cat>
            <c:numRef>
              <c:f>Sheet1!$A$2:$A$21</c:f>
              <c:numCache>
                <c:formatCode>General</c:formatCode>
                <c:ptCount val="2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  <c:pt idx="12">
                  <c:v>2027</c:v>
                </c:pt>
                <c:pt idx="13">
                  <c:v>2028</c:v>
                </c:pt>
                <c:pt idx="14">
                  <c:v>2029</c:v>
                </c:pt>
                <c:pt idx="15">
                  <c:v>2030</c:v>
                </c:pt>
                <c:pt idx="16">
                  <c:v>2031</c:v>
                </c:pt>
                <c:pt idx="17">
                  <c:v>2032</c:v>
                </c:pt>
                <c:pt idx="18">
                  <c:v>2033</c:v>
                </c:pt>
                <c:pt idx="19">
                  <c:v>2034</c:v>
                </c:pt>
              </c:numCache>
            </c:numRef>
          </c:cat>
          <c:val>
            <c:numRef>
              <c:f>Sheet1!$B$2:$B$21</c:f>
              <c:numCache>
                <c:formatCode>#,##0</c:formatCode>
                <c:ptCount val="20"/>
                <c:pt idx="0">
                  <c:v>180700</c:v>
                </c:pt>
                <c:pt idx="1">
                  <c:v>182954</c:v>
                </c:pt>
                <c:pt idx="2">
                  <c:v>185236</c:v>
                </c:pt>
                <c:pt idx="3">
                  <c:v>187547</c:v>
                </c:pt>
                <c:pt idx="4">
                  <c:v>189886</c:v>
                </c:pt>
                <c:pt idx="5">
                  <c:v>192255</c:v>
                </c:pt>
                <c:pt idx="6">
                  <c:v>194653</c:v>
                </c:pt>
                <c:pt idx="7">
                  <c:v>197081</c:v>
                </c:pt>
                <c:pt idx="8">
                  <c:v>199540</c:v>
                </c:pt>
                <c:pt idx="9">
                  <c:v>202029</c:v>
                </c:pt>
                <c:pt idx="10" formatCode="General">
                  <c:v>204554</c:v>
                </c:pt>
                <c:pt idx="11" formatCode="General">
                  <c:v>207107</c:v>
                </c:pt>
                <c:pt idx="12" formatCode="General">
                  <c:v>209695</c:v>
                </c:pt>
                <c:pt idx="13" formatCode="General">
                  <c:v>212319</c:v>
                </c:pt>
                <c:pt idx="14" formatCode="General">
                  <c:v>214980</c:v>
                </c:pt>
                <c:pt idx="15" formatCode="General">
                  <c:v>217678</c:v>
                </c:pt>
                <c:pt idx="16" formatCode="General">
                  <c:v>220414</c:v>
                </c:pt>
                <c:pt idx="17" formatCode="General">
                  <c:v>223188</c:v>
                </c:pt>
                <c:pt idx="18" formatCode="General">
                  <c:v>225999</c:v>
                </c:pt>
                <c:pt idx="19" formatCode="General">
                  <c:v>228849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{"Amount of careers"}</c15:sqref>
                        </c15:formulaRef>
                      </c:ext>
                    </c:extLst>
                    <c:strCache>
                      <c:ptCount val="1"/>
                      <c:pt idx="0">
                        <c:v>Amount of careers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ECA5-461F-9D35-C89B113757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06773256"/>
        <c:axId val="1206775304"/>
      </c:barChart>
      <c:catAx>
        <c:axId val="1206773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6775304"/>
        <c:crosses val="autoZero"/>
        <c:auto val="1"/>
        <c:lblAlgn val="ctr"/>
        <c:lblOffset val="100"/>
        <c:noMultiLvlLbl val="0"/>
      </c:catAx>
      <c:valAx>
        <c:axId val="1206775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6773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548810149371537"/>
          <c:y val="0.92187441439258511"/>
          <c:w val="0.25173950131233597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595959"/>
    </a:solidFill>
    <a:ln w="9525" cap="flat" cmpd="sng" algn="ctr">
      <a:solidFill>
        <a:srgbClr val="FFFFFF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Figure out the problem – Design a solution – Create and test your solution</a:t>
            </a:r>
            <a:endParaRPr dirty="0"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High school diploma to bachelor's degree depending on position </a:t>
            </a:r>
            <a:endParaRPr dirty="0"/>
          </a:p>
        </p:txBody>
      </p:sp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Entry 85k – mid 155k – senior 223k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Outlook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— Growth rate, demand summary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Coursework Connection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— Which class strands map to this role and how (code, DB, web, AI)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108" name="Google Shape;1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Trend Chart (Excel Linked)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— </a:t>
            </a: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Salary over time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 growth over time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(at least 5 time points; clear title/axes; linked, not screenshot)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(You can add slides if needed). </a:t>
            </a: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Day-in-the-Life / Tools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or </a:t>
            </a: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Interesting Facts</a:t>
            </a: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+ </a:t>
            </a: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1200" b="0" i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22" name="Google Shape;1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Google Shape;28;p1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1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0" name="Google Shape;30;p10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" name="Google Shape;31;p10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" name="Google Shape;34;p10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" name="Google Shape;35;p10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" name="Google Shape;36;p1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" name="Google Shape;37;p10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8" name="Google Shape;38;p10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FEFEFE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9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26262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9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" name="Google Shape;14;p9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9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9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9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9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9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FEFEFE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FEFEFE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ooh/architecture-and-engineering/computer-hardware-engineers.ht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" descr="Close-up of circuit board"/>
          <p:cNvPicPr preferRelativeResize="0"/>
          <p:nvPr/>
        </p:nvPicPr>
        <p:blipFill rotWithShape="1">
          <a:blip r:embed="rId3">
            <a:alphaModFix/>
          </a:blip>
          <a:srcRect l="9091" t="16329" b="7063"/>
          <a:stretch/>
        </p:blipFill>
        <p:spPr>
          <a:xfrm>
            <a:off x="1" y="10"/>
            <a:ext cx="1219199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/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" name="Google Shape;55;p1" descr="microprocessor"/>
          <p:cNvSpPr/>
          <p:nvPr/>
        </p:nvSpPr>
        <p:spPr>
          <a:xfrm>
            <a:off x="3675927" y="-9645"/>
            <a:ext cx="7373073" cy="6886936"/>
          </a:xfrm>
          <a:prstGeom prst="parallelogram">
            <a:avLst>
              <a:gd name="adj" fmla="val 15925"/>
            </a:avLst>
          </a:prstGeom>
          <a:solidFill>
            <a:srgbClr val="161E21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9371012" y="0"/>
            <a:ext cx="1219200" cy="685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"/>
          <p:cNvCxnSpPr/>
          <p:nvPr/>
        </p:nvCxnSpPr>
        <p:spPr>
          <a:xfrm flipH="1">
            <a:off x="7425267" y="3681413"/>
            <a:ext cx="4763558" cy="3176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"/>
          <p:cNvSpPr/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 extrusionOk="0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 extrusionOk="0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176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1"/>
          <p:cNvSpPr txBox="1">
            <a:spLocks noGrp="1"/>
          </p:cNvSpPr>
          <p:nvPr>
            <p:ph type="ctrTitle"/>
          </p:nvPr>
        </p:nvSpPr>
        <p:spPr>
          <a:xfrm>
            <a:off x="4154843" y="1707601"/>
            <a:ext cx="5128805" cy="234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"/>
              <a:buNone/>
            </a:pPr>
            <a:r>
              <a:rPr lang="en-US"/>
              <a:t>Microprocessor Manufacturing</a:t>
            </a:r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4788276" y="4050832"/>
            <a:ext cx="4485725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dirty="0"/>
              <a:t>Elijah Dusute &amp; Kian Leach | SEWD 2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 extrusionOk="0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3F7818">
              <a:alpha val="4666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 extrusionOk="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BFE471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>
            <a:spLocks noGrp="1"/>
          </p:cNvSpPr>
          <p:nvPr>
            <p:ph type="title"/>
          </p:nvPr>
        </p:nvSpPr>
        <p:spPr>
          <a:xfrm>
            <a:off x="394579" y="535319"/>
            <a:ext cx="912985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/>
              <a:t>What do microprocessor manufacturers do?</a:t>
            </a:r>
            <a:endParaRPr/>
          </a:p>
        </p:txBody>
      </p:sp>
      <p:grpSp>
        <p:nvGrpSpPr>
          <p:cNvPr id="72" name="Google Shape;72;p2"/>
          <p:cNvGrpSpPr/>
          <p:nvPr/>
        </p:nvGrpSpPr>
        <p:grpSpPr>
          <a:xfrm>
            <a:off x="394725" y="2074025"/>
            <a:ext cx="8596667" cy="3878348"/>
            <a:chOff x="0" y="1212"/>
            <a:chExt cx="8596667" cy="3878348"/>
          </a:xfrm>
        </p:grpSpPr>
        <p:sp>
          <p:nvSpPr>
            <p:cNvPr id="73" name="Google Shape;73;p2"/>
            <p:cNvSpPr/>
            <p:nvPr/>
          </p:nvSpPr>
          <p:spPr>
            <a:xfrm>
              <a:off x="1719333" y="1212"/>
              <a:ext cx="6877334" cy="124306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9050" cap="rnd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1719333" y="1212"/>
              <a:ext cx="6877334" cy="124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425" tIns="315725" rIns="133425" bIns="315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en-US" sz="15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Solve the issue – What is your circuit’s purpose? What problem is it solving? Is it improving an earlier design, or is it creating a new solution to a problem?</a:t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1212"/>
              <a:ext cx="1719333" cy="1243060"/>
            </a:xfrm>
            <a:prstGeom prst="rect">
              <a:avLst/>
            </a:prstGeom>
            <a:solidFill>
              <a:schemeClr val="accent5"/>
            </a:solidFill>
            <a:ln w="19050" cap="rnd" cmpd="sng">
              <a:solidFill>
                <a:srgbClr val="C42F1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0" y="1212"/>
              <a:ext cx="1719333" cy="124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75" tIns="122775" rIns="90975" bIns="122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rebuchet MS"/>
                <a:buNone/>
              </a:pPr>
              <a:r>
                <a:rPr lang="en-US" sz="19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Solve</a:t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719333" y="1318856"/>
              <a:ext cx="6877334" cy="124306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9050" cap="rnd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1719333" y="1318856"/>
              <a:ext cx="6877334" cy="124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425" tIns="315725" rIns="133425" bIns="315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en-US" sz="15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Design the board – Create a design that maps out the chip’s layout and allocates the resources necessary to use it.</a:t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0" y="1318856"/>
              <a:ext cx="1719333" cy="1243060"/>
            </a:xfrm>
            <a:prstGeom prst="rect">
              <a:avLst/>
            </a:prstGeom>
            <a:solidFill>
              <a:srgbClr val="FFC000"/>
            </a:solidFill>
            <a:ln w="19050" cap="rnd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0" y="1318856"/>
              <a:ext cx="1719333" cy="124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75" tIns="122775" rIns="90975" bIns="122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rebuchet MS"/>
                <a:buNone/>
              </a:pPr>
              <a:r>
                <a:rPr lang="en-US" sz="19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Design</a:t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719333" y="2636500"/>
              <a:ext cx="6877334" cy="124306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9050" cap="rnd" cmpd="sng">
              <a:solidFill>
                <a:schemeClr val="tx2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 txBox="1"/>
            <p:nvPr/>
          </p:nvSpPr>
          <p:spPr>
            <a:xfrm>
              <a:off x="1719333" y="2636500"/>
              <a:ext cx="6877334" cy="124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425" tIns="315725" rIns="133425" bIns="3157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en-US" sz="15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Manufacture and test the board. Does it work? If it does, then you’ve done your job</a:t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2636500"/>
              <a:ext cx="1719333" cy="1243060"/>
            </a:xfrm>
            <a:prstGeom prst="rect">
              <a:avLst/>
            </a:prstGeom>
            <a:solidFill>
              <a:schemeClr val="accent2"/>
            </a:solidFill>
            <a:ln w="19050" cap="rnd" cmpd="sng">
              <a:solidFill>
                <a:srgbClr val="54A02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 txBox="1"/>
            <p:nvPr/>
          </p:nvSpPr>
          <p:spPr>
            <a:xfrm>
              <a:off x="0" y="2636500"/>
              <a:ext cx="1719333" cy="1243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75" tIns="122775" rIns="90975" bIns="122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rebuchet MS"/>
                <a:buNone/>
              </a:pPr>
              <a:r>
                <a:rPr lang="en-US" sz="19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Manufacture and test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en-US" dirty="0"/>
              <a:t>What education is necessary?</a:t>
            </a:r>
            <a:endParaRPr dirty="0"/>
          </a:p>
        </p:txBody>
      </p:sp>
      <p:sp>
        <p:nvSpPr>
          <p:cNvPr id="90" name="Google Shape;90;p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 sz="3200" dirty="0"/>
              <a:t>Education for microprocessor manufacturing varies by role, with a high school diploma sufficient for some technician positions, while engineering and design roles require at least a bachelor's degree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Salary Snapshot</a:t>
            </a:r>
          </a:p>
        </p:txBody>
      </p:sp>
      <p:sp>
        <p:nvSpPr>
          <p:cNvPr id="97" name="Google Shape;97;p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82290" cy="386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50825">
              <a:spcBef>
                <a:spcPts val="0"/>
              </a:spcBef>
              <a:buNone/>
            </a:pPr>
            <a:r>
              <a:rPr lang="en-US" sz="4000" dirty="0"/>
              <a:t>average annual salaries for engineers </a:t>
            </a:r>
            <a:endParaRPr lang="en-US"/>
          </a:p>
          <a:p>
            <a:pPr marL="342900" indent="-250825">
              <a:spcBef>
                <a:spcPts val="0"/>
              </a:spcBef>
              <a:buNone/>
            </a:pPr>
            <a:r>
              <a:rPr lang="en-US" sz="4000" dirty="0"/>
              <a:t>around $155,020 per year</a:t>
            </a:r>
            <a:endParaRPr lang="en-US" dirty="0"/>
          </a:p>
          <a:p>
            <a:pPr marL="342900" indent="-250825">
              <a:spcBef>
                <a:spcPts val="0"/>
              </a:spcBef>
              <a:buNone/>
            </a:pPr>
            <a:r>
              <a:rPr lang="en-US" sz="4000" dirty="0"/>
              <a:t>Entry averages at $85,430</a:t>
            </a:r>
          </a:p>
          <a:p>
            <a:pPr marL="342900" indent="-250825">
              <a:spcBef>
                <a:spcPts val="0"/>
              </a:spcBef>
              <a:buNone/>
            </a:pPr>
            <a:r>
              <a:rPr lang="en-US" sz="4000" dirty="0"/>
              <a:t>Senior averages at $223,820</a:t>
            </a:r>
          </a:p>
        </p:txBody>
      </p:sp>
      <p:pic>
        <p:nvPicPr>
          <p:cNvPr id="2" name="Graphic 1" descr="Money with solid fill">
            <a:extLst>
              <a:ext uri="{FF2B5EF4-FFF2-40B4-BE49-F238E27FC236}">
                <a16:creationId xmlns:a16="http://schemas.microsoft.com/office/drawing/2014/main" id="{B7C0FEB4-FFC0-0706-0A55-96BEFC077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9238" y="4125070"/>
            <a:ext cx="1425879" cy="1415441"/>
          </a:xfrm>
          <a:prstGeom prst="rect">
            <a:avLst/>
          </a:prstGeom>
        </p:spPr>
      </p:pic>
      <p:pic>
        <p:nvPicPr>
          <p:cNvPr id="3" name="Graphic 2" descr="Dollar with solid fill">
            <a:extLst>
              <a:ext uri="{FF2B5EF4-FFF2-40B4-BE49-F238E27FC236}">
                <a16:creationId xmlns:a16="http://schemas.microsoft.com/office/drawing/2014/main" id="{3456C563-F74B-D0C1-D668-50C42D1B7F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60000">
            <a:off x="427459" y="5340132"/>
            <a:ext cx="914400" cy="914400"/>
          </a:xfrm>
          <a:prstGeom prst="rect">
            <a:avLst/>
          </a:prstGeom>
        </p:spPr>
      </p:pic>
      <p:pic>
        <p:nvPicPr>
          <p:cNvPr id="4" name="Graphic 3" descr="Coins with solid fill">
            <a:extLst>
              <a:ext uri="{FF2B5EF4-FFF2-40B4-BE49-F238E27FC236}">
                <a16:creationId xmlns:a16="http://schemas.microsoft.com/office/drawing/2014/main" id="{1A2F72AC-0934-D6EC-7030-31DB1D5F33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7645" y="4828354"/>
            <a:ext cx="1185797" cy="1175358"/>
          </a:xfrm>
          <a:prstGeom prst="rect">
            <a:avLst/>
          </a:prstGeom>
        </p:spPr>
      </p:pic>
      <p:pic>
        <p:nvPicPr>
          <p:cNvPr id="5" name="Graphic 4" descr="Dollar with solid fill">
            <a:extLst>
              <a:ext uri="{FF2B5EF4-FFF2-40B4-BE49-F238E27FC236}">
                <a16:creationId xmlns:a16="http://schemas.microsoft.com/office/drawing/2014/main" id="{99B7F52D-F339-4CEE-C287-A4BB2B122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60000">
            <a:off x="1606992" y="5726350"/>
            <a:ext cx="914400" cy="914400"/>
          </a:xfrm>
          <a:prstGeom prst="rect">
            <a:avLst/>
          </a:prstGeom>
        </p:spPr>
      </p:pic>
      <p:pic>
        <p:nvPicPr>
          <p:cNvPr id="6" name="Graphic 5" descr="Dollar with solid fill">
            <a:extLst>
              <a:ext uri="{FF2B5EF4-FFF2-40B4-BE49-F238E27FC236}">
                <a16:creationId xmlns:a16="http://schemas.microsoft.com/office/drawing/2014/main" id="{B56BE341-63EC-53BA-7027-9611AEDA5C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60000">
            <a:off x="1012005" y="55384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Job Outlook</a:t>
            </a:r>
          </a:p>
        </p:txBody>
      </p:sp>
      <p:sp>
        <p:nvSpPr>
          <p:cNvPr id="104" name="Google Shape;104;p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77825" indent="-285750">
              <a:spcBef>
                <a:spcPts val="0"/>
              </a:spcBef>
            </a:pPr>
            <a:r>
              <a:rPr lang="en-US" sz="3200" dirty="0"/>
              <a:t>The job outlook for microprocessor manufacturing is positive, with a projected growth much faster than average, driven by the increasing demand for electronics, AI, and electric vehicles.</a:t>
            </a:r>
          </a:p>
          <a:p>
            <a:pPr marL="377825" indent="-285750">
              <a:spcBef>
                <a:spcPts val="0"/>
              </a:spcBef>
            </a:pPr>
            <a:r>
              <a:rPr lang="en-US" sz="3200" dirty="0"/>
              <a:t>Employment for semiconductor processing technicians is projected to grow 11% from 2024 to 2034.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Coursework Connection</a:t>
            </a:r>
          </a:p>
        </p:txBody>
      </p:sp>
      <p:sp>
        <p:nvSpPr>
          <p:cNvPr id="111" name="Google Shape;111;p6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77825" indent="-285750">
              <a:spcBef>
                <a:spcPts val="0"/>
              </a:spcBef>
            </a:pPr>
            <a:r>
              <a:rPr lang="en-US" sz="3200" dirty="0"/>
              <a:t>The connection of microprocessor manufacturing to our coursework is more related to how software interacts with hardware. </a:t>
            </a:r>
          </a:p>
          <a:p>
            <a:pPr marL="377825" indent="-285750">
              <a:spcBef>
                <a:spcPts val="0"/>
              </a:spcBef>
            </a:pPr>
            <a:r>
              <a:rPr lang="en-US" sz="3200" dirty="0"/>
              <a:t>In order to understand how hardware works, it is absolutely necessary to understand how the software works, otherwise you only have half the understanding to a computer.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 descr="Job growth Graph ranging form 2015 to 2034">
            <a:extLst>
              <a:ext uri="{FF2B5EF4-FFF2-40B4-BE49-F238E27FC236}">
                <a16:creationId xmlns:a16="http://schemas.microsoft.com/office/drawing/2014/main" id="{F9C46745-BA24-5EE7-925B-B0F505D31E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9775932"/>
              </p:ext>
            </p:extLst>
          </p:nvPr>
        </p:nvGraphicFramePr>
        <p:xfrm>
          <a:off x="385854" y="1270108"/>
          <a:ext cx="9682685" cy="4978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110;p6">
            <a:extLst>
              <a:ext uri="{FF2B5EF4-FFF2-40B4-BE49-F238E27FC236}">
                <a16:creationId xmlns:a16="http://schemas.microsoft.com/office/drawing/2014/main" id="{E6300C3B-E293-83DC-0B93-B6B43A1A5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Job growth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125" name="Google Shape;125;p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34975" indent="-342900">
              <a:spcBef>
                <a:spcPts val="0"/>
              </a:spcBef>
              <a:buAutoNum type="arabicPeriod"/>
            </a:pPr>
            <a:r>
              <a:rPr lang="en-US" dirty="0">
                <a:hlinkClick r:id="rId3"/>
              </a:rPr>
              <a:t>www.bls.gov</a:t>
            </a:r>
            <a:r>
              <a:rPr lang="en-US" dirty="0"/>
              <a:t> - Average Salary / Job Information</a:t>
            </a:r>
          </a:p>
          <a:p>
            <a:pPr marL="434975" indent="-342900">
              <a:spcBef>
                <a:spcPts val="0"/>
              </a:spcBef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Noto Sans Symbols</vt:lpstr>
      <vt:lpstr>Arial</vt:lpstr>
      <vt:lpstr>Teko</vt:lpstr>
      <vt:lpstr>Trebuchet MS</vt:lpstr>
      <vt:lpstr>Facet</vt:lpstr>
      <vt:lpstr>Microprocessor Manufacturing</vt:lpstr>
      <vt:lpstr>What do microprocessor manufacturers do?</vt:lpstr>
      <vt:lpstr>What education is necessary?</vt:lpstr>
      <vt:lpstr>Salary Snapshot</vt:lpstr>
      <vt:lpstr>Job Outlook</vt:lpstr>
      <vt:lpstr>Coursework Connection</vt:lpstr>
      <vt:lpstr>Job growth over time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Dusute, Elijah</dc:creator>
  <cp:lastModifiedBy>Dusute, Elijah</cp:lastModifiedBy>
  <cp:revision>173</cp:revision>
  <dcterms:created xsi:type="dcterms:W3CDTF">2025-11-03T18:19:08Z</dcterms:created>
  <dcterms:modified xsi:type="dcterms:W3CDTF">2025-11-11T17:36:48Z</dcterms:modified>
</cp:coreProperties>
</file>